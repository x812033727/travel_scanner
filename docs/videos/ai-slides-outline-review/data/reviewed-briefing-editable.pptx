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本地流程示範｜不是 Gemini Notebook 產品畫面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14984"/>
            <a:ext cx="13167360" cy="74066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887" b="1">
                <a:solidFill>
                  <a:srgbClr val="172D46"/>
                </a:solidFill>
                <a:latin typeface="Noto Sans CJK TC"/>
              </a:defRPr>
            </a:pPr>
            <a:r>
              <a:t>同一份報告，先問兩個問題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167360" cy="27432"/>
          </a:xfrm>
          <a:prstGeom prst="roundRect">
            <a:avLst/>
          </a:prstGeom>
          <a:solidFill>
            <a:srgbClr val="BAC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6309360" cy="2788920"/>
          </a:xfrm>
          <a:prstGeom prst="roundRect">
            <a:avLst/>
          </a:prstGeom>
          <a:solidFill>
            <a:srgbClr val="E2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2514600"/>
            <a:ext cx="6583680" cy="2788920"/>
          </a:xfrm>
          <a:prstGeom prst="roundRect">
            <a:avLst/>
          </a:prstGeom>
          <a:solidFill>
            <a:srgbClr val="E5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24912"/>
            <a:ext cx="12801600" cy="85039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4464" b="1">
                <a:solidFill>
                  <a:srgbClr val="007F85"/>
                </a:solidFill>
                <a:latin typeface="Noto Sans CJK TC"/>
              </a:defRPr>
            </a:pPr>
            <a:r>
              <a:t>投入多少錢？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85032"/>
            <a:ext cx="12801600" cy="57607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024" b="0">
                <a:solidFill>
                  <a:srgbClr val="172D46"/>
                </a:solidFill>
                <a:latin typeface="Noto Sans CJK TC"/>
              </a:defRPr>
            </a:pPr>
            <a:r>
              <a:t>投資類型／地區／資料年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79976"/>
            <a:ext cx="1280160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單位：十億美元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761488"/>
            <a:ext cx="6217920" cy="795528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4176" b="1">
                <a:solidFill>
                  <a:srgbClr val="172D46"/>
                </a:solidFill>
                <a:latin typeface="Noto Sans CJK TC"/>
              </a:defRPr>
            </a:pPr>
            <a:r>
              <a:t>多少人在回報使用？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685032"/>
            <a:ext cx="6217920" cy="57607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024" b="0">
                <a:solidFill>
                  <a:srgbClr val="172D46"/>
                </a:solidFill>
                <a:latin typeface="Noto Sans CJK TC"/>
              </a:defRPr>
            </a:pPr>
            <a:r>
              <a:t>受訪者／組織／業務功能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379976"/>
            <a:ext cx="621792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單位：受訪者比例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79008"/>
            <a:ext cx="13167360" cy="658368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456" b="1">
                <a:solidFill>
                  <a:srgbClr val="172D46"/>
                </a:solidFill>
                <a:latin typeface="Noto Sans CJK TC"/>
              </a:defRPr>
            </a:pPr>
            <a:r>
              <a:t>先審問題與口徑，再把確認的數字放進簡報。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94029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資料：2026 AI Index 經濟章；本例只展示其2025資料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7525512"/>
            <a:ext cx="13167360" cy="43891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304" b="0">
                <a:solidFill>
                  <a:srgbClr val="4B5A65"/>
                </a:solidFill>
                <a:latin typeface="Noto Sans CJK TC"/>
              </a:defRPr>
            </a:pPr>
            <a:r>
              <a:t>本地原創排版與頁碼核對；沒有執行Notebook／Canva生成服務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本地流程示範｜不是 Gemini Notebook 產品畫面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14984"/>
            <a:ext cx="13167360" cy="74066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887" b="1">
                <a:solidFill>
                  <a:srgbClr val="172D46"/>
                </a:solidFill>
                <a:latin typeface="Noto Sans CJK TC"/>
              </a:defRPr>
            </a:pPr>
            <a:r>
              <a:t>2025：全球企業投資與其中私人投資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167360" cy="27432"/>
          </a:xfrm>
          <a:prstGeom prst="roundRect">
            <a:avLst/>
          </a:prstGeom>
          <a:solidFill>
            <a:srgbClr val="BAC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3167360" cy="5486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879" b="0">
                <a:solidFill>
                  <a:srgbClr val="4B5A65"/>
                </a:solidFill>
                <a:latin typeface="Noto Sans CJK TC"/>
              </a:defRPr>
            </a:pPr>
            <a:r>
              <a:t>單位：十億美元｜企業總額包含多種融資活動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16936"/>
            <a:ext cx="1316736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全球企業投資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916936"/>
            <a:ext cx="7535212" cy="64008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0" y="2962656"/>
            <a:ext cx="182880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581.69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71416"/>
            <a:ext cx="1316736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其中：私人投資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471416"/>
            <a:ext cx="4464725" cy="640080"/>
          </a:xfrm>
          <a:prstGeom prst="round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0" y="4517136"/>
            <a:ext cx="182880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344.66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88736"/>
            <a:ext cx="1316736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私人投資是其中一部分，兩個數字不可相加。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94029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來源：圖4.2.1｜報告p178／PDF第8頁｜Quid，2025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525512"/>
            <a:ext cx="13167360" cy="43891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304" b="0">
                <a:solidFill>
                  <a:srgbClr val="4B5A65"/>
                </a:solidFill>
                <a:latin typeface="Noto Sans CJK TC"/>
              </a:defRPr>
            </a:pPr>
            <a:r>
              <a:t>本地原創排版與頁碼核對；沒有執行Notebook／Canva生成服務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本地流程示範｜不是 Gemini Notebook 產品畫面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14984"/>
            <a:ext cx="13167360" cy="74066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887" b="1">
                <a:solidFill>
                  <a:srgbClr val="172D46"/>
                </a:solidFill>
                <a:latin typeface="Noto Sans CJK TC"/>
              </a:defRPr>
            </a:pPr>
            <a:r>
              <a:t>2025：用同一私人融資口徑比較地區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167360" cy="27432"/>
          </a:xfrm>
          <a:prstGeom prst="roundRect">
            <a:avLst/>
          </a:prstGeom>
          <a:solidFill>
            <a:srgbClr val="BAC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3167360" cy="5486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879" b="0">
                <a:solidFill>
                  <a:srgbClr val="4B5A65"/>
                </a:solidFill>
                <a:latin typeface="Noto Sans CJK TC"/>
              </a:defRPr>
            </a:pPr>
            <a:r>
              <a:t>單位：十億美元｜私人AI投資，不是全國AI總支出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3167360" cy="68580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600" b="1">
                <a:solidFill>
                  <a:srgbClr val="172D46"/>
                </a:solidFill>
                <a:latin typeface="Noto Sans CJK TC"/>
              </a:defRPr>
            </a:pPr>
            <a:r>
              <a:t>美國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916936"/>
            <a:ext cx="8277941" cy="64008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0" y="2962656"/>
            <a:ext cx="201168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285.88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3167360" cy="68580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600" b="1">
                <a:solidFill>
                  <a:srgbClr val="172D46"/>
                </a:solidFill>
                <a:latin typeface="Noto Sans CJK TC"/>
              </a:defRPr>
            </a:pPr>
            <a:r>
              <a:t>中國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471416"/>
            <a:ext cx="359343" cy="640080"/>
          </a:xfrm>
          <a:prstGeom prst="round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0" y="4517136"/>
            <a:ext cx="201168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12.41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88736"/>
            <a:ext cx="13167360" cy="63093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311" b="1">
                <a:solidFill>
                  <a:srgbClr val="172D46"/>
                </a:solidFill>
                <a:latin typeface="Noto Sans CJK TC"/>
              </a:defRPr>
            </a:pPr>
            <a:r>
              <a:t>同年份、同單位、同投資類型，才放在同一圖上。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94029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來源：圖4.2.8｜報告p182／PDF第12頁｜Quid，2025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525512"/>
            <a:ext cx="13167360" cy="43891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304" b="0">
                <a:solidFill>
                  <a:srgbClr val="4B5A65"/>
                </a:solidFill>
                <a:latin typeface="Noto Sans CJK TC"/>
              </a:defRPr>
            </a:pPr>
            <a:r>
              <a:t>本地原創排版與頁碼核對；沒有執行Notebook／Canva生成服務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0233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本地流程示範｜不是 Gemini Notebook 產品畫面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14984"/>
            <a:ext cx="13167360" cy="74066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887" b="1">
                <a:solidFill>
                  <a:srgbClr val="172D46"/>
                </a:solidFill>
                <a:latin typeface="Noto Sans CJK TC"/>
              </a:defRPr>
            </a:pPr>
            <a:r>
              <a:t>2025：受訪者回報組織使用AI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167360" cy="27432"/>
          </a:xfrm>
          <a:prstGeom prst="roundRect">
            <a:avLst/>
          </a:prstGeom>
          <a:solidFill>
            <a:srgbClr val="BAC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3167360" cy="5486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879" b="0">
                <a:solidFill>
                  <a:srgbClr val="4B5A65"/>
                </a:solidFill>
                <a:latin typeface="Noto Sans CJK TC"/>
              </a:defRPr>
            </a:pPr>
            <a:r>
              <a:t>至少一項業務使用AI｜自述調查，不是人口普查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8046720" cy="960120"/>
          </a:xfrm>
          <a:prstGeom prst="roundRect">
            <a:avLst/>
          </a:prstGeom>
          <a:solidFill>
            <a:srgbClr val="00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3063240"/>
            <a:ext cx="4572000" cy="1234440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6480" b="1">
                <a:solidFill>
                  <a:srgbClr val="007F85"/>
                </a:solidFill>
                <a:latin typeface="Noto Sans CJK TC"/>
              </a:defRPr>
            </a:pPr>
            <a:r>
              <a:t>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43984"/>
            <a:ext cx="13167360" cy="60350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168" b="1">
                <a:solidFill>
                  <a:srgbClr val="172D46"/>
                </a:solidFill>
                <a:latin typeface="Noto Sans CJK TC"/>
              </a:defRPr>
            </a:pPr>
            <a:r>
              <a:t>生成式AI數字暫不當作已確認的採用率：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02352"/>
            <a:ext cx="13167360" cy="57607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024" b="0">
                <a:solidFill>
                  <a:srgbClr val="B83E2A"/>
                </a:solidFill>
                <a:latin typeface="Noto Sans CJK TC"/>
              </a:defRPr>
            </a:pPr>
            <a:r>
              <a:t>摘要p173列70%；詳文p193列79%，措辭不同。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96712"/>
            <a:ext cx="13167360" cy="57607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3024" b="0">
                <a:solidFill>
                  <a:srgbClr val="B83E2A"/>
                </a:solidFill>
                <a:latin typeface="Noto Sans CJK TC"/>
              </a:defRPr>
            </a:pPr>
            <a:r>
              <a:t>年份皆指2025；問法／分母是否一致仍待釐清。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940296"/>
            <a:ext cx="13167360" cy="493776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592" b="0">
                <a:solidFill>
                  <a:srgbClr val="4B5A65"/>
                </a:solidFill>
                <a:latin typeface="Noto Sans CJK TC"/>
              </a:defRPr>
            </a:pPr>
            <a:r>
              <a:t>來源：報告p173、p193／PDF第3、23頁｜圖4.3.1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525512"/>
            <a:ext cx="13167360" cy="438912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>
              <a:defRPr sz="2304" b="0">
                <a:solidFill>
                  <a:srgbClr val="4B5A65"/>
                </a:solidFill>
                <a:latin typeface="Noto Sans CJK TC"/>
              </a:defRPr>
            </a:pPr>
            <a:r>
              <a:t>本地原創排版與頁碼核對；沒有執行Notebook／Canva生成服務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